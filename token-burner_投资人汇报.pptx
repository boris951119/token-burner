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0" y="-146304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1463040"/>
            <a:ext cx="3108960" cy="3108960"/>
          </a:xfrm>
          <a:prstGeom prst="ellipse">
            <a:avLst/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237744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101828"/>
                </a:solidFill>
                <a:latin typeface="微软雅黑"/>
              </a:rPr>
              <a:t>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微软雅黑"/>
              </a:rPr>
              <a:t>AI MULTI-AGENT PROJECT TEAM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8412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token-burner</a:t>
            </a:r>
            <a:r>
              <a:rPr sz="4000" b="1">
                <a:solidFill>
                  <a:srgbClr val="F59E0B"/>
                </a:solidFill>
                <a:latin typeface="微软雅黑"/>
              </a:rPr>
              <a:t> 文档消耗器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A8B3C5"/>
                </a:solidFill>
                <a:latin typeface="微软雅黑"/>
              </a:rPr>
              <a:t>让每个 token 都烧在刀刃上 —— 成本可控、质量可验证的多智能体软件开发系统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01828"/>
                </a:solidFill>
                <a:latin typeface="微软雅黑"/>
              </a:rPr>
              <a:t>投资人汇报 · 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规格 v0.3.1 全量实现 · 472 项自动化测试通过 · 桌面客户端已交付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01 ·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AI 编码工具的三大痛点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566160" cy="109728"/>
          </a:xfrm>
          <a:prstGeom prst="roundRect">
            <a:avLst>
              <a:gd name="adj" fmla="val 6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成本失控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0">
                <a:solidFill>
                  <a:srgbClr val="A8B3C5"/>
                </a:solidFill>
                <a:latin typeface="微软雅黑"/>
              </a:rPr>
              <a:t>Token 消耗不可预估、不可观测。讨论发散、修复死循环、单次输出倾泻——账单在无声中膨胀，企业级使用无法预算管理。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783080"/>
            <a:ext cx="3566160" cy="109728"/>
          </a:xfrm>
          <a:prstGeom prst="roundRect">
            <a:avLst>
              <a:gd name="adj" fmla="val 6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能力天花板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432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0">
                <a:solidFill>
                  <a:srgbClr val="A8B3C5"/>
                </a:solidFill>
                <a:latin typeface="微软雅黑"/>
              </a:rPr>
              <a:t>单模型自我校验不可靠：自己写的代码自己审，盲区一致、幻觉互相印证，缺乏独立视角的交叉验证。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7304" y="1783080"/>
            <a:ext cx="3566160" cy="109728"/>
          </a:xfrm>
          <a:prstGeom prst="roundRect">
            <a:avLst>
              <a:gd name="adj" fmla="val 6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质量无闸门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7432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0">
                <a:solidFill>
                  <a:srgbClr val="A8B3C5"/>
                </a:solidFill>
                <a:latin typeface="微软雅黑"/>
              </a:rPr>
              <a:t>生成代码直接交付：无接口契约、无静态验证、无执行反馈闭环，「看起来对」不等于「跑得对」。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9496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微软雅黑"/>
              </a:rPr>
              <a:t>核心矛盾：</a:t>
            </a:r>
            <a:r>
              <a:rPr sz="1600" b="0">
                <a:solidFill>
                  <a:srgbClr val="FFFFFF"/>
                </a:solidFill>
                <a:latin typeface="微软雅黑"/>
              </a:rPr>
              <a:t>多智能体能解决质量问题，但会放大成本问题——市场上缺少一个「既要多模型协作、又要成本铁闸」的编排层。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02 ·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一支被工程纪律约束的 AI 项目团队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微软雅黑"/>
              </a:rPr>
              <a:t>需求 → 评估路由 → 团队组建 → 方案讨论 → spec 收敛 → 模块化生成 → 双模验证 → 反馈修复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774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主 LLM · 架构师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5292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需求解析、难度评估、方案提出与汇总裁决、spec 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开发副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5292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方案评审（≥8 分建议采纳）、模块代码生成、缺陷修复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3774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测试副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85292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方案评审、测试用例与测试文件生成、验证报告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5196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79392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01828"/>
                </a:solidFill>
                <a:latin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885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微软雅黑"/>
              </a:rPr>
              <a:t>三模型强制互异——独立视角交叉验证，杜绝同源盲区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1888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01828"/>
                </a:solidFill>
                <a:latin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5546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微软雅黑"/>
              </a:rPr>
              <a:t>模型无关接入（litellm）：OpenAI / 智谱 / 任意兼容端点自由组合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8581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1324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01828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223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微软雅黑"/>
              </a:rPr>
              <a:t>简单任务节流：基础/研究类直出，不浪费团队编制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03 · 工作管线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三分类路由：把 token 花在值得的地方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926080" cy="9601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01828"/>
                </a:solidFill>
                <a:latin typeface="微软雅黑"/>
              </a:rPr>
              <a:t>用户需求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2926080" cy="868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91440" cy="868680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729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基础任务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快速直答 · （零团队成本）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14800"/>
            <a:ext cx="2926080" cy="868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91440" cy="8686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研究·分析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深度直出 · （单模型+预算约束）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2926080" cy="868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91440" cy="868680"/>
          </a:xfrm>
          <a:prstGeom prst="roundRect">
            <a:avLst>
              <a:gd name="adj" fmla="val 6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76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编程任务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强制组建三模型团队 · （完整工程管线）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1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方案讨论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(双评审+收敛)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35204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0952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30952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4104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spec 确认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(≤3轮)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5204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4264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84264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模块化生成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(接口契约)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4" y="35204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5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37575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7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双模验证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(静态+执行)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5" y="35204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90888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90888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反馈修复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(≤5轮)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9608" y="35204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44200" y="2743200"/>
            <a:ext cx="1207008" cy="19202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744200" y="2743200"/>
            <a:ext cx="1207008" cy="8229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17352" y="3154680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交付+看板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A8B3C5"/>
                </a:solidFill>
                <a:latin typeface="微软雅黑"/>
              </a:rPr>
              <a:t>(可审计)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39" y="5029200"/>
            <a:ext cx="7699248" cy="868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5193792"/>
            <a:ext cx="7223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59E0B"/>
                </a:solidFill>
                <a:latin typeface="微软雅黑"/>
              </a:rPr>
              <a:t>全程铁闸：</a:t>
            </a:r>
            <a:r>
              <a:rPr sz="1450" b="0">
                <a:solidFill>
                  <a:srgbClr val="FFFFFF"/>
                </a:solidFill>
                <a:latin typeface="微软雅黑"/>
              </a:rPr>
              <a:t>每一步都受六层成本护栏约束（下页）；中断可恢复，会话可审计。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04 · 核心壁垒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六层成本护栏：把「无限烧钱」变成「预算工程」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3566160"/>
                <a:gridCol w="3959352"/>
              </a:tblGrid>
              <a:tr h="56170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微软雅黑"/>
                        </a:rPr>
                        <a:t>层</a:t>
                      </a:r>
                    </a:p>
                  </a:txBody>
                  <a:tcPr anchor="ctr" marL="128016" marT="18288" marB="18288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微软雅黑"/>
                        </a:rPr>
                        <a:t>护栏</a:t>
                      </a:r>
                    </a:p>
                  </a:txBody>
                  <a:tcPr anchor="ctr" marL="128016" marT="18288" marB="18288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微软雅黑"/>
                        </a:rPr>
                        <a:t>默认参数</a:t>
                      </a:r>
                    </a:p>
                  </a:txBody>
                  <a:tcPr anchor="ctr" marL="128016" marT="18288" marB="18288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微软雅黑"/>
                        </a:rPr>
                        <a:t>达标行为</a:t>
                      </a:r>
                    </a:p>
                  </a:txBody>
                  <a:tcPr anchor="ctr" marL="128016" marT="18288" marB="18288">
                    <a:solidFill>
                      <a:srgbClr val="F59E0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单任务总预算（总闸）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200k tokens · 自动模式 ×2.5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≥90% 省token模式；超预算中止并落盘止损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讨论轮数上限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3 轮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主 LLM 直接产出收敛 spec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单轮输出上限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8k tokens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截断按未完成处理，分块续写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讨论循环检测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Jaccard 0.9 / embedding 0.85 / 3 次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冻结副 LLM 发言权，主 LLM 收权裁决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修复循环上限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5 轮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输出「已知问题与降级方案」</a:t>
                      </a:r>
                    </a:p>
                  </a:txBody>
                  <a:tcPr anchor="ctr" marL="128016" marT="18288" marB="18288">
                    <a:solidFill>
                      <a:srgbClr val="1B253A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9E0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spec 确认收敛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3 次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</a:rPr>
                        <a:t>合并意见输出最终 spec</a:t>
                      </a:r>
                    </a:p>
                  </a:txBody>
                  <a:tcPr anchor="ctr" marL="128016" marT="18288" marB="18288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微软雅黑"/>
              </a:rPr>
              <a:t>差异化本质：</a:t>
            </a:r>
            <a:r>
              <a:rPr sz="1500" b="0">
                <a:solidFill>
                  <a:srgbClr val="A8B3C5"/>
                </a:solidFill>
                <a:latin typeface="微软雅黑"/>
              </a:rPr>
              <a:t>护栏全部由程序确定性执行（AST/相似度计算），不依赖 LLM 自律——「让 LLM 自己省 token」是不成立的，规则必须由代码铸成。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05 · 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验证不是提示词，是机制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微软雅黑"/>
              </a:rPr>
              <a:t>双模执行验证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40864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安全审阅模式：AST 静态检查 + LLM 逻辑审查 + 用户反馈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自动验证模式：危险预扫描（系统命令/网络/动态执行）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真实执行 + 30s 超时熔断，结构化结果注入修复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373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7" y="1901952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微软雅黑"/>
              </a:rPr>
              <a:t>AST 接口门禁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340864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接口地图为唯一合法基线，引用抽取差异判定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违规即阻断进入修复循环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零执行、零 LLM 调用——唯一不耗 token 的纪律执行器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8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微软雅黑"/>
              </a:rPr>
              <a:t>循环检测双保险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3712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第一道：Jaccard 文本相似度（零成本拦截字面重复）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第二道：embedding 语义相似度（增量缓存控成本）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重复 ≥3 次自动冻结，主 LLM 收权裁决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950208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4114800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微软雅黑"/>
              </a:rPr>
              <a:t>韧性工程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4553712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LLM 超时 120s + 指数退避重试（瞬态错误最多 3 次）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中断恢复：状态落盘，重启后断点续跑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300" b="0">
                <a:solidFill>
                  <a:srgbClr val="A8B3C5"/>
                </a:solidFill>
                <a:latin typeface="微软雅黑"/>
              </a:rPr>
              <a:t>提示词注入防护：不可信文本边界标记 + 截断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06 · 工程完成度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不是 PPT 工程，是可交付的软件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微软雅黑"/>
              </a:rPr>
              <a:t>规格 v0.3.1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全量实现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92024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微软雅黑"/>
              </a:rPr>
              <a:t>472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6060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自动化测试通过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737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92024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微软雅黑"/>
              </a:rPr>
              <a:t>3 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6060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交付形态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1737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192024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26060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已知阻断缺陷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核心能力清单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完整管线：路由/讨论/spec/模块化生成/双模验证/反馈闭环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六层护栏 + Token 成本看板（任务级消耗可审计）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模块化治理：接口隔离、独立规格 md、共享库变更整包回归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JSON 解析容错：围栏剥离、截断分块续写、LLM 辅助修复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644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安全与信任边界文档化：注入防护、执行隔离、权限声明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52044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7033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微软雅黑"/>
              </a:rPr>
              <a:t>质量方法论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11480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8B3C5"/>
                </a:solidFill>
                <a:latin typeface="微软雅黑"/>
              </a:rPr>
              <a:t>SDD 规格驱动开发 + TDD 测试驱动开发。
规格先行、测试先行，每项缺陷修复均回归全量测试套件，472 项测试构成持续验证的安全网。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07 · 产品形态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双击即用的桌面客户端 + 开发者生态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09728" cy="12344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桌面客户端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独立 exe（75MB），双击即用。需求输入 → 点火执行 → 工作可视化（评估指标/时间线/模块状态）→ API 配置管理。单进程零网络架构，兼容企业安全环境。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109728" cy="12344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0098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Web / API 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FastAPI 契约化接口：评估路由、任务执行、中断恢复、反馈闭环、成本看板。支持浏览器访问与二次集成。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7200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09728" cy="12344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183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CLI 命令行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3892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完整管线命令行形态，面向开发者的脚本化、CI 集成场景，与 GUI 共用同一内核。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59E0B"/>
                </a:solidFill>
                <a:latin typeface="微软雅黑"/>
              </a:rPr>
              <a:t>一处内核，三种入口：</a:t>
            </a:r>
            <a:r>
              <a:rPr sz="1450" b="0">
                <a:solidFill>
                  <a:srgbClr val="A8B3C5"/>
                </a:solidFill>
                <a:latin typeface="微软雅黑"/>
              </a:rPr>
              <a:t>桌面端覆盖小白用户，API/CLI 覆盖开发者与企业集成——同一套多智能体内核。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08 · 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AI 编码是生成式 AI 落地最快的赛道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微软雅黑"/>
              </a:rPr>
              <a:t>从「单点补全」到「团队交付」：开发者工具的下一个范式转移已经开始。GitHub Copilot、Cursor 验证了单模型辅助的巨大市场；而多智能体编排 + 成本治理层，是尚未被占领的下一层价值。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272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50" b="1">
                <a:solidFill>
                  <a:srgbClr val="F59E0B"/>
                </a:solidFill>
                <a:latin typeface="微软雅黑"/>
              </a:rPr>
              <a:t>企业 AI 编码预算管理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A8B3C5"/>
                </a:solidFill>
                <a:latin typeface="微软雅黑"/>
              </a:rPr>
              <a:t>企业引入 AI 编程的最大阻力从「能力」转向「成本失控」。预算铁闸 + 成本看板直接命中采购决策者的核心关切。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880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1272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50" b="1">
                <a:solidFill>
                  <a:srgbClr val="F59E0B"/>
                </a:solidFill>
                <a:latin typeface="微软雅黑"/>
              </a:rPr>
              <a:t>多模型异构编排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40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A8B3C5"/>
                </a:solidFill>
                <a:latin typeface="微软雅黑"/>
              </a:rPr>
              <a:t>模型市场碎片化（OpenAI/Anthropic/国产模型各有所长），「三模型互异交叉验证」天然成为模型中立的编排层。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880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31272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50" b="1">
                <a:solidFill>
                  <a:srgbClr val="F59E0B"/>
                </a:solidFill>
                <a:latin typeface="微软雅黑"/>
              </a:rPr>
              <a:t>交付质量合规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840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A8B3C5"/>
                </a:solidFill>
                <a:latin typeface="微软雅黑"/>
              </a:rPr>
              <a:t>代码生成进入企业生产链路需要验证闭环与审计留痕——本项目接口门禁 + 会话记录 + 成本审计即为此设计。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7847"/>
                </a:solidFill>
                <a:latin typeface="微软雅黑"/>
              </a:rPr>
              <a:t>定位一句话：</a:t>
            </a:r>
            <a:r>
              <a:rPr sz="1500" b="1">
                <a:solidFill>
                  <a:srgbClr val="FFFFFF"/>
                </a:solidFill>
                <a:latin typeface="微软雅黑"/>
              </a:rPr>
              <a:t>不做又一个编码助手，做 AI 软件团队的「操作系统 + 财务总监」。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09 · 竞争壁垒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机制壁垒，而非提示词壁垒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01828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756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护栏引擎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87752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六层确定性护栏 + 超预算熔断落盘。竞品的「成本提示」是建议，本项目的是闸门。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78308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7" y="205740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2130552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01828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0756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AST 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7" y="2587752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接口地图 + 零成本确定性校验，把「开发纪律」变成「硬门禁」——提示词无法被绕过。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23359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1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01828"/>
                </a:solidFill>
                <a:latin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模型异构互验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3711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强制三模型互异，交叉盲区检测。单模型产品结构上无法复制。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749039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0527" y="4023359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4096511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01828"/>
                </a:solidFill>
                <a:latin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7" y="404164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全链路可审计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7" y="4553711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8B3C5"/>
                </a:solidFill>
                <a:latin typeface="微软雅黑"/>
              </a:rPr>
              <a:t>会话记录、成本报告、修复历史、中断快照——每一步留痕，企业级合规友好。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A8B3C5"/>
                </a:solidFill>
                <a:latin typeface="微软雅黑"/>
              </a:rPr>
              <a:t>以上能力均有规格文档锚定 + 自动化测试保护，构成可验证的工程壁垒。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2296" cy="7863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微软雅黑"/>
              </a:rPr>
              <a:t>10 · 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MVP 已交付，迭代路径清晰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51760" cy="128016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4D399"/>
                </a:solidFill>
                <a:latin typeface="微软雅黑"/>
              </a:rPr>
              <a:t>MVP · 已交付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2026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40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4D399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完整协作闭环 + 双模验证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4D399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六层护栏 + 成本看板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4D399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桌面客户端 / API / CLI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4D399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472 项测试、规格全实现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8308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651760" cy="12801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微软雅黑"/>
              </a:rPr>
              <a:t>Alpha v0.4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4871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2026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971800"/>
            <a:ext cx="2240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59E0B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沙箱隔离执行（本地执行器已就绪）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59E0B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外部工具 / MCP 调用开放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59E0B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模式状态智能推荐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8308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1783080"/>
            <a:ext cx="2651760" cy="128016"/>
          </a:xfrm>
          <a:prstGeom prst="roundRect">
            <a:avLst>
              <a:gd name="adj" fmla="val 6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7847"/>
                </a:solidFill>
                <a:latin typeface="微软雅黑"/>
              </a:rPr>
              <a:t>Beta v0.5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4871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2027 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971800"/>
            <a:ext cx="2240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Researcher Agent（联网调研）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实时监控面板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7847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Agent 对话流图可视化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78308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1783080"/>
            <a:ext cx="2651760" cy="128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Release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4871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A8B3C5"/>
                </a:solidFill>
                <a:latin typeface="微软雅黑"/>
              </a:rPr>
              <a:t>2027 H2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971800"/>
            <a:ext cx="2240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本地知识库检索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副 LLM 能力自动匹配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▪ </a:t>
            </a:r>
            <a:r>
              <a:rPr sz="1200" b="0">
                <a:solidFill>
                  <a:srgbClr val="A8B3C5"/>
                </a:solidFill>
                <a:latin typeface="微软雅黑"/>
              </a:rPr>
              <a:t>多人协作与权限管理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token-burner · 文档消耗器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B3C5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103120"/>
            <a:ext cx="12191695" cy="2651760"/>
          </a:xfrm>
          <a:prstGeom prst="roundRect">
            <a:avLst>
              <a:gd name="adj" fmla="val 6000"/>
            </a:avLst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Set your tokens on fire — 有价值地燃烧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F59E0B"/>
                </a:solidFill>
                <a:latin typeface="微软雅黑"/>
              </a:rPr>
              <a:t>成本可控 · 质量可验证 · 全程可审计的 AI 多智能体软件工厂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B3C5"/>
                </a:solidFill>
                <a:latin typeface="微软雅黑"/>
              </a:rPr>
              <a:t>谢谢 · 期待与您深入交流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